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8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69680" y="-640080"/>
            <a:ext cx="4023360" cy="3474720"/>
          </a:xfrm>
          <a:prstGeom prst="ellipse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029200"/>
            <a:ext cx="4114800" cy="2743200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5212080"/>
            <a:ext cx="3200400" cy="2103120"/>
          </a:xfrm>
          <a:prstGeom prst="ellipse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B0B5CF"/>
                </a:solidFill>
              </a:defRPr>
            </a:pPr>
            <a:r>
              <a:t>01</a:t>
            </a:r>
          </a:p>
        </p:txBody>
      </p:sp>
      <p:sp>
        <p:nvSpPr>
          <p:cNvPr id="29" name="Oval 28"/>
          <p:cNvSpPr/>
          <p:nvPr/>
        </p:nvSpPr>
        <p:spPr>
          <a:xfrm>
            <a:off x="8321040" y="1691640"/>
            <a:ext cx="2926080" cy="2926080"/>
          </a:xfrm>
          <a:prstGeom prst="ellipse">
            <a:avLst/>
          </a:prstGeom>
          <a:noFill/>
          <a:ln w="20320">
            <a:solidFill>
              <a:srgbClr val="43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95359" y="1691640"/>
            <a:ext cx="2377440" cy="2926080"/>
          </a:xfrm>
          <a:prstGeom prst="ellipse">
            <a:avLst/>
          </a:prstGeom>
          <a:noFill/>
          <a:ln w="20320">
            <a:solidFill>
              <a:srgbClr val="96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138159" y="2514600"/>
            <a:ext cx="3291840" cy="1280160"/>
          </a:xfrm>
          <a:prstGeom prst="ellipse">
            <a:avLst/>
          </a:prstGeom>
          <a:noFill/>
          <a:ln w="20320">
            <a:solidFill>
              <a:srgbClr val="FFC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89719" y="2560320"/>
            <a:ext cx="1188720" cy="1188720"/>
          </a:xfrm>
          <a:prstGeom prst="ellipse">
            <a:avLst/>
          </a:prstGeom>
          <a:solidFill>
            <a:srgbClr val="1C1737"/>
          </a:solidFill>
          <a:ln w="25400">
            <a:solidFill>
              <a:srgbClr val="43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53728" y="2953512"/>
            <a:ext cx="10607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00" b="1">
                <a:solidFill>
                  <a:srgbClr val="F5F7FF"/>
                </a:solidFill>
              </a:defRPr>
            </a:pPr>
            <a:r>
              <a:t>BJ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1325880"/>
            <a:ext cx="70408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5F7FF"/>
                </a:solidFill>
              </a:defRPr>
            </a:pPr>
            <a:r>
              <a:t>BUVIJAG 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" y="242316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43E1FF"/>
                </a:solidFill>
              </a:defRPr>
            </a:pPr>
            <a:r>
              <a:t>Sharp Intelligence for a Data-Driven World.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" y="3246120"/>
            <a:ext cx="60350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B0B5CF"/>
                </a:solidFill>
              </a:defRPr>
            </a:pPr>
            <a:r>
              <a:t>AI-powered business data analysis agent</a:t>
            </a:r>
            <a:br/>
            <a:r>
              <a:t>Hackathon Project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55480" y="6236208"/>
            <a:ext cx="1508760" cy="347472"/>
          </a:xfrm>
          <a:prstGeom prst="roundRect">
            <a:avLst/>
          </a:prstGeom>
          <a:solidFill>
            <a:srgbClr val="1C1737"/>
          </a:solidFill>
          <a:ln>
            <a:solidFill>
              <a:srgbClr val="96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43E1FF"/>
                </a:solidFill>
              </a:defRPr>
            </a:pPr>
            <a:r>
              <a:t>SPEAKER  •  VINCEN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66960" y="411480"/>
            <a:ext cx="1463040" cy="228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287000" y="749808"/>
            <a:ext cx="1005840" cy="16459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989320"/>
            <a:ext cx="1143000" cy="20116"/>
          </a:xfrm>
          <a:prstGeom prst="rect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" y="6144768"/>
            <a:ext cx="10698480" cy="7315"/>
          </a:xfrm>
          <a:prstGeom prst="rect">
            <a:avLst/>
          </a:prstGeom>
          <a:solidFill>
            <a:srgbClr val="413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8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69680" y="-640080"/>
            <a:ext cx="4023360" cy="3474720"/>
          </a:xfrm>
          <a:prstGeom prst="ellipse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029200"/>
            <a:ext cx="4114800" cy="2743200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5212080"/>
            <a:ext cx="3200400" cy="2103120"/>
          </a:xfrm>
          <a:prstGeom prst="ellipse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B0B5CF"/>
                </a:solidFill>
              </a:defRPr>
            </a:pPr>
            <a: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201168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5F7FF"/>
                </a:solidFill>
              </a:defRPr>
            </a:pPr>
            <a:r>
              <a:t>BUVIJAG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713232"/>
            <a:ext cx="81381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7FF"/>
                </a:solidFill>
              </a:defRPr>
            </a:pPr>
            <a:r>
              <a:t>The Problem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1353312"/>
            <a:ext cx="8138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0B5CF"/>
                </a:solidFill>
              </a:defRPr>
            </a:pPr>
            <a:r>
              <a:t>Raw data is available. Clear decisions are not.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1965960"/>
            <a:ext cx="3429000" cy="292608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FF6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" y="1965960"/>
            <a:ext cx="50292" cy="2926080"/>
          </a:xfrm>
          <a:prstGeom prst="rect">
            <a:avLst/>
          </a:prstGeom>
          <a:solidFill>
            <a:srgbClr val="FF6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60120" y="2167128"/>
            <a:ext cx="384048" cy="384048"/>
          </a:xfrm>
          <a:prstGeom prst="ellipse">
            <a:avLst/>
          </a:prstGeom>
          <a:solidFill>
            <a:srgbClr val="FF6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217627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2148840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6782"/>
                </a:solidFill>
              </a:defRPr>
            </a:pPr>
            <a:r>
              <a:t>RAW 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2624328"/>
            <a:ext cx="2926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Businesses have CSV and spreadsheet data across sales, products, customers and operations.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89120" y="1965960"/>
            <a:ext cx="3429000" cy="292608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FFC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89120" y="1965960"/>
            <a:ext cx="50292" cy="2926080"/>
          </a:xfrm>
          <a:prstGeom prst="rect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617720" y="2167128"/>
            <a:ext cx="384048" cy="384048"/>
          </a:xfrm>
          <a:prstGeom prst="ellipse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17720" y="217627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0" y="2148840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C45C"/>
                </a:solidFill>
              </a:defRPr>
            </a:pPr>
            <a:r>
              <a:t>THE GAP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2624328"/>
            <a:ext cx="2926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Turning records into useful decisions often requires technical and analytical skills.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46720" y="1965960"/>
            <a:ext cx="3429000" cy="292608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43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046720" y="1965960"/>
            <a:ext cx="50292" cy="292608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275320" y="2167128"/>
            <a:ext cx="384048" cy="384048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5320" y="217627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2148840"/>
            <a:ext cx="2468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3E1FF"/>
                </a:solidFill>
              </a:defRPr>
            </a:pPr>
            <a:r>
              <a:t>OUR RESPONSE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624328"/>
            <a:ext cx="2926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BUVIJAG closes the gap with an upload-to-insight workflow.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236208"/>
            <a:ext cx="1508760" cy="347472"/>
          </a:xfrm>
          <a:prstGeom prst="roundRect">
            <a:avLst/>
          </a:prstGeom>
          <a:solidFill>
            <a:srgbClr val="1C1737"/>
          </a:solidFill>
          <a:ln>
            <a:solidFill>
              <a:srgbClr val="96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43E1FF"/>
                </a:solidFill>
              </a:defRPr>
            </a:pPr>
            <a:r>
              <a:t>SPEAKER  •  VINCEN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966960" y="411480"/>
            <a:ext cx="1463040" cy="228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287000" y="749808"/>
            <a:ext cx="1005840" cy="16459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5989320"/>
            <a:ext cx="1143000" cy="20116"/>
          </a:xfrm>
          <a:prstGeom prst="rect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40080" y="6144768"/>
            <a:ext cx="10698480" cy="7315"/>
          </a:xfrm>
          <a:prstGeom prst="rect">
            <a:avLst/>
          </a:prstGeom>
          <a:solidFill>
            <a:srgbClr val="413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8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69680" y="-640080"/>
            <a:ext cx="4023360" cy="3474720"/>
          </a:xfrm>
          <a:prstGeom prst="ellipse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029200"/>
            <a:ext cx="4114800" cy="2743200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5212080"/>
            <a:ext cx="3200400" cy="2103120"/>
          </a:xfrm>
          <a:prstGeom prst="ellipse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B0B5CF"/>
                </a:solidFill>
              </a:defRPr>
            </a:pPr>
            <a: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201168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5F7FF"/>
                </a:solidFill>
              </a:defRPr>
            </a:pPr>
            <a:r>
              <a:t>BUVIJAG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713232"/>
            <a:ext cx="81381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7FF"/>
                </a:solidFill>
              </a:defRPr>
            </a:pPr>
            <a:r>
              <a:t>Our Solution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1353312"/>
            <a:ext cx="8138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0B5CF"/>
                </a:solidFill>
              </a:defRPr>
            </a:pPr>
            <a:r>
              <a:t>One continuous journey from upload to executive report.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1874519"/>
            <a:ext cx="3246120" cy="15087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43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" y="1874519"/>
            <a:ext cx="50292" cy="15087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2960" y="2075688"/>
            <a:ext cx="384048" cy="384048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2084831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5880" y="2057400"/>
            <a:ext cx="228599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3E1FF"/>
                </a:solidFill>
              </a:defRPr>
            </a:pPr>
            <a:r>
              <a:t>UPLOAD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2532887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Business CSV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89120" y="1874519"/>
            <a:ext cx="3246120" cy="15087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43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89120" y="1874519"/>
            <a:ext cx="50292" cy="15087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617720" y="2075688"/>
            <a:ext cx="384048" cy="384048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17720" y="2084831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0" y="20574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3E1FF"/>
                </a:solidFill>
              </a:defRPr>
            </a:pPr>
            <a:r>
              <a:t>UNDERSTAND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2532887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AI + quality checks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83880" y="1874519"/>
            <a:ext cx="3246120" cy="15087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43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83880" y="1874519"/>
            <a:ext cx="50292" cy="15087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12480" y="2075688"/>
            <a:ext cx="384048" cy="384048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0" y="2084831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2057400"/>
            <a:ext cx="228599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3E1FF"/>
                </a:solidFill>
              </a:defRPr>
            </a:pPr>
            <a:r>
              <a:t>ANALYZE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58200" y="2532887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KPIs + trends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3886200"/>
            <a:ext cx="3246120" cy="15087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96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94360" y="3886200"/>
            <a:ext cx="50292" cy="1508760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22960" y="4087368"/>
            <a:ext cx="384048" cy="384048"/>
          </a:xfrm>
          <a:prstGeom prst="ellipse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" y="409651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25880" y="4069080"/>
            <a:ext cx="228599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965BFF"/>
                </a:solidFill>
              </a:defRPr>
            </a:pPr>
            <a:r>
              <a:t>EXPLAIN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" y="4544568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Insights + evidence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389120" y="3886200"/>
            <a:ext cx="3246120" cy="15087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96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89120" y="3886200"/>
            <a:ext cx="50292" cy="1508760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617720" y="4087368"/>
            <a:ext cx="384048" cy="384048"/>
          </a:xfrm>
          <a:prstGeom prst="ellipse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17720" y="409651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20640" y="40690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965BFF"/>
                </a:solidFill>
              </a:defRPr>
            </a:pPr>
            <a:r>
              <a:t>ACT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63440" y="4544568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Plan + simulation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183880" y="3886200"/>
            <a:ext cx="3246120" cy="15087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96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83880" y="3886200"/>
            <a:ext cx="50292" cy="1508760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412480" y="4087368"/>
            <a:ext cx="384048" cy="384048"/>
          </a:xfrm>
          <a:prstGeom prst="ellipse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12480" y="409651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15400" y="4069080"/>
            <a:ext cx="228599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965BFF"/>
                </a:solidFill>
              </a:defRPr>
            </a:pPr>
            <a:r>
              <a:t>REPORT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58200" y="4544568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Executive PDF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555480" y="6236208"/>
            <a:ext cx="1508760" cy="347472"/>
          </a:xfrm>
          <a:prstGeom prst="roundRect">
            <a:avLst/>
          </a:prstGeom>
          <a:solidFill>
            <a:srgbClr val="1C1737"/>
          </a:solidFill>
          <a:ln>
            <a:solidFill>
              <a:srgbClr val="96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43E1FF"/>
                </a:solidFill>
              </a:defRPr>
            </a:pPr>
            <a:r>
              <a:t>SPEAKER  •  BHUVANESH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966960" y="411480"/>
            <a:ext cx="1463040" cy="228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287000" y="749808"/>
            <a:ext cx="1005840" cy="16459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02920" y="5989320"/>
            <a:ext cx="1143000" cy="20116"/>
          </a:xfrm>
          <a:prstGeom prst="rect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40080" y="6144768"/>
            <a:ext cx="10698480" cy="7315"/>
          </a:xfrm>
          <a:prstGeom prst="rect">
            <a:avLst/>
          </a:prstGeom>
          <a:solidFill>
            <a:srgbClr val="413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8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69680" y="-640080"/>
            <a:ext cx="4023360" cy="3474720"/>
          </a:xfrm>
          <a:prstGeom prst="ellipse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029200"/>
            <a:ext cx="4114800" cy="2743200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5212080"/>
            <a:ext cx="3200400" cy="2103120"/>
          </a:xfrm>
          <a:prstGeom prst="ellipse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B0B5CF"/>
                </a:solidFill>
              </a:defRPr>
            </a:pPr>
            <a: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201168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5F7FF"/>
                </a:solidFill>
              </a:defRPr>
            </a:pPr>
            <a:r>
              <a:t>BUVIJAG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713232"/>
            <a:ext cx="81381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7FF"/>
                </a:solidFill>
              </a:defRPr>
            </a:pPr>
            <a:r>
              <a:t>Key AI &amp; Analytics Features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1353312"/>
            <a:ext cx="8138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0B5CF"/>
                </a:solidFill>
              </a:defRPr>
            </a:pPr>
            <a:r>
              <a:t>From data quality to decision support.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1828800"/>
            <a:ext cx="3246120" cy="15087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43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" y="1828800"/>
            <a:ext cx="50292" cy="15087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14400" y="2029968"/>
            <a:ext cx="384048" cy="384048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203911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20116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3E1FF"/>
                </a:solidFill>
              </a:defRPr>
            </a:pPr>
            <a:r>
              <a:t>KPI Detection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2487168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Automatically surface important business metrics.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0560" y="1828800"/>
            <a:ext cx="3246120" cy="15087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5BE1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480560" y="1828800"/>
            <a:ext cx="50292" cy="1508760"/>
          </a:xfrm>
          <a:prstGeom prst="rect">
            <a:avLst/>
          </a:prstGeom>
          <a:solidFill>
            <a:srgbClr val="5BE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60" y="2029968"/>
            <a:ext cx="384048" cy="384048"/>
          </a:xfrm>
          <a:prstGeom prst="ellipse">
            <a:avLst/>
          </a:prstGeom>
          <a:solidFill>
            <a:srgbClr val="5BE1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9160" y="203911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20116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BE1A6"/>
                </a:solidFill>
              </a:defRPr>
            </a:pPr>
            <a:r>
              <a:t>Data Health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2487168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Check missing, duplicate and suspicious values.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75320" y="1828800"/>
            <a:ext cx="3246120" cy="15087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FF6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75320" y="1828800"/>
            <a:ext cx="50292" cy="1508760"/>
          </a:xfrm>
          <a:prstGeom prst="rect">
            <a:avLst/>
          </a:prstGeom>
          <a:solidFill>
            <a:srgbClr val="FF6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503920" y="2029968"/>
            <a:ext cx="384048" cy="384048"/>
          </a:xfrm>
          <a:prstGeom prst="ellipse">
            <a:avLst/>
          </a:prstGeom>
          <a:solidFill>
            <a:srgbClr val="FF6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3920" y="203911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6840" y="2011680"/>
            <a:ext cx="228599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6782"/>
                </a:solidFill>
              </a:defRPr>
            </a:pPr>
            <a:r>
              <a:t>Anomaly Detection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9640" y="2487168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Highlight unusual business patterns.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5800" y="3794760"/>
            <a:ext cx="3246120" cy="15087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FFC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85800" y="3794760"/>
            <a:ext cx="50292" cy="1508760"/>
          </a:xfrm>
          <a:prstGeom prst="rect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14400" y="3995928"/>
            <a:ext cx="384048" cy="384048"/>
          </a:xfrm>
          <a:prstGeom prst="ellipse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400507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397764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C45C"/>
                </a:solidFill>
              </a:defRPr>
            </a:pPr>
            <a:r>
              <a:t>Evidence-backed Insights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0120" y="4453128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Explain findings with supporting data.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80560" y="3794760"/>
            <a:ext cx="3246120" cy="15087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43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480560" y="3794760"/>
            <a:ext cx="50292" cy="15087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709160" y="3995928"/>
            <a:ext cx="384048" cy="384048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09160" y="400507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80" y="397764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3E1FF"/>
                </a:solidFill>
              </a:defRPr>
            </a:pPr>
            <a:r>
              <a:t>Recommended Visuals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54880" y="4453128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Select useful charts for the dataset.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275320" y="3794760"/>
            <a:ext cx="3246120" cy="15087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96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275320" y="3794760"/>
            <a:ext cx="50292" cy="1508760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503920" y="3995928"/>
            <a:ext cx="384048" cy="384048"/>
          </a:xfrm>
          <a:prstGeom prst="ellipse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3920" y="400507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06840" y="3977640"/>
            <a:ext cx="228599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965BFF"/>
                </a:solidFill>
              </a:defRPr>
            </a:pPr>
            <a:r>
              <a:t>What-If Simulator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9640" y="4453128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Explore business scenarios before acting.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555480" y="6236208"/>
            <a:ext cx="1508760" cy="347472"/>
          </a:xfrm>
          <a:prstGeom prst="roundRect">
            <a:avLst/>
          </a:prstGeom>
          <a:solidFill>
            <a:srgbClr val="1C1737"/>
          </a:solidFill>
          <a:ln>
            <a:solidFill>
              <a:srgbClr val="96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43E1FF"/>
                </a:solidFill>
              </a:defRPr>
            </a:pPr>
            <a:r>
              <a:t>SPEAKER  •  BHUVANESH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966960" y="411480"/>
            <a:ext cx="1463040" cy="228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287000" y="749808"/>
            <a:ext cx="1005840" cy="16459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02920" y="5989320"/>
            <a:ext cx="1143000" cy="20116"/>
          </a:xfrm>
          <a:prstGeom prst="rect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40080" y="6144768"/>
            <a:ext cx="10698480" cy="7315"/>
          </a:xfrm>
          <a:prstGeom prst="rect">
            <a:avLst/>
          </a:prstGeom>
          <a:solidFill>
            <a:srgbClr val="413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8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69680" y="-640080"/>
            <a:ext cx="4023360" cy="3474720"/>
          </a:xfrm>
          <a:prstGeom prst="ellipse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029200"/>
            <a:ext cx="4114800" cy="2743200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5212080"/>
            <a:ext cx="3200400" cy="2103120"/>
          </a:xfrm>
          <a:prstGeom prst="ellipse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B0B5CF"/>
                </a:solidFill>
              </a:defRPr>
            </a:pPr>
            <a: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201168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5F7FF"/>
                </a:solidFill>
              </a:defRPr>
            </a:pPr>
            <a:r>
              <a:t>BUVIJAG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713232"/>
            <a:ext cx="81381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7FF"/>
                </a:solidFill>
              </a:defRPr>
            </a:pPr>
            <a:r>
              <a:t>Smart Inventory Intelligence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1353312"/>
            <a:ext cx="8138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0B5CF"/>
                </a:solidFill>
              </a:defRPr>
            </a:pPr>
            <a:r>
              <a:t>Turn stock data into clear inventory signals.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1874519"/>
            <a:ext cx="3337560" cy="324612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FF67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" y="1874519"/>
            <a:ext cx="50292" cy="3246120"/>
          </a:xfrm>
          <a:prstGeom prst="rect">
            <a:avLst/>
          </a:prstGeom>
          <a:solidFill>
            <a:srgbClr val="FF6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60120" y="2075688"/>
            <a:ext cx="384048" cy="384048"/>
          </a:xfrm>
          <a:prstGeom prst="ellipse">
            <a:avLst/>
          </a:prstGeom>
          <a:solidFill>
            <a:srgbClr val="FF67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2084831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2057400"/>
            <a:ext cx="23774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6782"/>
                </a:solidFill>
              </a:defRPr>
            </a:pPr>
            <a:r>
              <a:t>STOCK STATUS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2532887"/>
            <a:ext cx="2834639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Critical / reorder</a:t>
            </a:r>
            <a:br/>
            <a:r>
              <a:t>Low stock</a:t>
            </a:r>
            <a:br/>
            <a:r>
              <a:t>Stock-OK</a:t>
            </a:r>
            <a:br/>
            <a:r>
              <a:t>Out-of-stock detection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34840" y="1874519"/>
            <a:ext cx="3337560" cy="324612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43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434840" y="1874519"/>
            <a:ext cx="50292" cy="324612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663440" y="2075688"/>
            <a:ext cx="384048" cy="384048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40" y="2084831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66359" y="205740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3E1FF"/>
                </a:solidFill>
              </a:defRPr>
            </a:pPr>
            <a:r>
              <a:t>INVENTORY SIGNALS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09159" y="2532887"/>
            <a:ext cx="2834639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Current stock</a:t>
            </a:r>
            <a:br/>
            <a:r>
              <a:t>Reorder level</a:t>
            </a:r>
            <a:br/>
            <a:r>
              <a:t>Quantity sold</a:t>
            </a:r>
            <a:br/>
            <a:r>
              <a:t>Sales velocity / days of stock where supported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38160" y="1874519"/>
            <a:ext cx="3337560" cy="324612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FFC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0" y="1874519"/>
            <a:ext cx="50292" cy="3246120"/>
          </a:xfrm>
          <a:prstGeom prst="rect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366760" y="2075688"/>
            <a:ext cx="384048" cy="384048"/>
          </a:xfrm>
          <a:prstGeom prst="ellipse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66760" y="2084831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9680" y="2057400"/>
            <a:ext cx="23774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C45C"/>
                </a:solidFill>
              </a:defRPr>
            </a:pPr>
            <a:r>
              <a:t>BUSINESS CONTEXT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2532887"/>
            <a:ext cx="2834639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Supplier visibility</a:t>
            </a:r>
            <a:br/>
            <a:r>
              <a:t>Inventory data-quality exceptions</a:t>
            </a:r>
            <a:br/>
            <a:r>
              <a:t>Faster identification of stock problems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236208"/>
            <a:ext cx="1508760" cy="347472"/>
          </a:xfrm>
          <a:prstGeom prst="roundRect">
            <a:avLst/>
          </a:prstGeom>
          <a:solidFill>
            <a:srgbClr val="1C1737"/>
          </a:solidFill>
          <a:ln>
            <a:solidFill>
              <a:srgbClr val="96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43E1FF"/>
                </a:solidFill>
              </a:defRPr>
            </a:pPr>
            <a:r>
              <a:t>SPEAKER  •  JAYASHREE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966960" y="411480"/>
            <a:ext cx="1463040" cy="228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287000" y="749808"/>
            <a:ext cx="1005840" cy="16459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5989320"/>
            <a:ext cx="1143000" cy="20116"/>
          </a:xfrm>
          <a:prstGeom prst="rect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40080" y="6144768"/>
            <a:ext cx="10698480" cy="7315"/>
          </a:xfrm>
          <a:prstGeom prst="rect">
            <a:avLst/>
          </a:prstGeom>
          <a:solidFill>
            <a:srgbClr val="413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8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69680" y="-640080"/>
            <a:ext cx="4023360" cy="3474720"/>
          </a:xfrm>
          <a:prstGeom prst="ellipse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029200"/>
            <a:ext cx="4114800" cy="2743200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5212080"/>
            <a:ext cx="3200400" cy="2103120"/>
          </a:xfrm>
          <a:prstGeom prst="ellipse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B0B5CF"/>
                </a:solidFill>
              </a:defRPr>
            </a:pPr>
            <a: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201168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5F7FF"/>
                </a:solidFill>
              </a:defRPr>
            </a:pPr>
            <a:r>
              <a:t>BUVIJAG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713232"/>
            <a:ext cx="81381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7FF"/>
                </a:solidFill>
              </a:defRPr>
            </a:pPr>
            <a:r>
              <a:t>Premium User Experience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1353312"/>
            <a:ext cx="8138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0B5CF"/>
                </a:solidFill>
              </a:defRPr>
            </a:pPr>
            <a:r>
              <a:t>Designed to feel like a modern AI workspace.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1783080"/>
            <a:ext cx="4983480" cy="114300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43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1783080"/>
            <a:ext cx="50292" cy="114300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05840" y="1984248"/>
            <a:ext cx="384048" cy="384048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199339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196596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3E1FF"/>
                </a:solidFill>
              </a:defRPr>
            </a:pPr>
            <a:r>
              <a:t>Animated Welcome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244144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A branded entry experience for BUVIJAG.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59" y="1783080"/>
            <a:ext cx="4983480" cy="114300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96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09359" y="1783080"/>
            <a:ext cx="50292" cy="1143000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37959" y="1984248"/>
            <a:ext cx="384048" cy="384048"/>
          </a:xfrm>
          <a:prstGeom prst="ellipse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59" y="199339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79" y="196596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965BFF"/>
                </a:solidFill>
              </a:defRPr>
            </a:pPr>
            <a:r>
              <a:t>Agent Activity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79" y="244144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Transparent workflow while analysis runs.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3291839"/>
            <a:ext cx="4983480" cy="114300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43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3291839"/>
            <a:ext cx="50292" cy="114300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05840" y="3493008"/>
            <a:ext cx="384048" cy="384048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3502151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347472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3E1FF"/>
                </a:solidFill>
              </a:defRPr>
            </a:pPr>
            <a:r>
              <a:t>Four Themes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3950207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Futuristic • Dark • Daylight • Professional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09359" y="3291839"/>
            <a:ext cx="4983480" cy="114300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96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309359" y="3291839"/>
            <a:ext cx="50292" cy="1143000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537959" y="3493008"/>
            <a:ext cx="384048" cy="384048"/>
          </a:xfrm>
          <a:prstGeom prst="ellipse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37959" y="3502151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40879" y="347472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965BFF"/>
                </a:solidFill>
              </a:defRPr>
            </a:pPr>
            <a:r>
              <a:t>Recent History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79" y="3950207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Reload recent files during the active session.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77240" y="4800600"/>
            <a:ext cx="4983480" cy="114300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43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7240" y="4800600"/>
            <a:ext cx="50292" cy="114300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05840" y="5001768"/>
            <a:ext cx="384048" cy="384048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" y="501091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8760" y="498348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3E1FF"/>
                </a:solidFill>
              </a:defRPr>
            </a:pPr>
            <a:r>
              <a:t>Multi-format Upload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" y="5458968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Support for multiple business-data formats.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555480" y="6236208"/>
            <a:ext cx="1508760" cy="347472"/>
          </a:xfrm>
          <a:prstGeom prst="roundRect">
            <a:avLst/>
          </a:prstGeom>
          <a:solidFill>
            <a:srgbClr val="1C1737"/>
          </a:solidFill>
          <a:ln>
            <a:solidFill>
              <a:srgbClr val="96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43E1FF"/>
                </a:solidFill>
              </a:defRPr>
            </a:pPr>
            <a:r>
              <a:t>SPEAKER  •  JAYASHREE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966960" y="411480"/>
            <a:ext cx="1463040" cy="228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287000" y="749808"/>
            <a:ext cx="1005840" cy="16459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989320"/>
            <a:ext cx="1143000" cy="20116"/>
          </a:xfrm>
          <a:prstGeom prst="rect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40080" y="6144768"/>
            <a:ext cx="10698480" cy="7315"/>
          </a:xfrm>
          <a:prstGeom prst="rect">
            <a:avLst/>
          </a:prstGeom>
          <a:solidFill>
            <a:srgbClr val="413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8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69680" y="-640080"/>
            <a:ext cx="4023360" cy="3474720"/>
          </a:xfrm>
          <a:prstGeom prst="ellipse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029200"/>
            <a:ext cx="4114800" cy="2743200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5212080"/>
            <a:ext cx="3200400" cy="2103120"/>
          </a:xfrm>
          <a:prstGeom prst="ellipse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B0B5CF"/>
                </a:solidFill>
              </a:defRPr>
            </a:pPr>
            <a: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201168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5F7FF"/>
                </a:solidFill>
              </a:defRPr>
            </a:pPr>
            <a:r>
              <a:t>BUVIJAG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713232"/>
            <a:ext cx="81381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7FF"/>
                </a:solidFill>
              </a:defRPr>
            </a:pPr>
            <a:r>
              <a:t>Technology Stack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1353312"/>
            <a:ext cx="8138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0B5CF"/>
                </a:solidFill>
              </a:defRPr>
            </a:pPr>
            <a:r>
              <a:t>Built with a practical AI + analytics stack.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1828800"/>
            <a:ext cx="3246120" cy="15087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43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" y="1828800"/>
            <a:ext cx="50292" cy="15087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14400" y="2029968"/>
            <a:ext cx="384048" cy="384048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203911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20116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3E1FF"/>
                </a:solidFill>
              </a:defRPr>
            </a:pPr>
            <a:r>
              <a:t>Python + Streamlit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2487168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Application and interactive UI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0560" y="1828800"/>
            <a:ext cx="3246120" cy="15087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96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480560" y="1828800"/>
            <a:ext cx="50292" cy="1508760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60" y="2029968"/>
            <a:ext cx="384048" cy="384048"/>
          </a:xfrm>
          <a:prstGeom prst="ellipse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9160" y="203911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20116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965BFF"/>
                </a:solidFill>
              </a:defRPr>
            </a:pPr>
            <a:r>
              <a:t>Google Gemini API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2487168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AI-powered understanding and insights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75320" y="1828800"/>
            <a:ext cx="3246120" cy="15087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43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75320" y="1828800"/>
            <a:ext cx="50292" cy="15087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503920" y="2029968"/>
            <a:ext cx="384048" cy="384048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3920" y="203911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6840" y="2011680"/>
            <a:ext cx="228599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3E1FF"/>
                </a:solidFill>
              </a:defRPr>
            </a:pPr>
            <a:r>
              <a:t>Pandas + NumPy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9640" y="2487168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Data processing and analysis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5800" y="3840480"/>
            <a:ext cx="3246120" cy="15087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96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85800" y="3840480"/>
            <a:ext cx="50292" cy="1508760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14400" y="4041648"/>
            <a:ext cx="384048" cy="384048"/>
          </a:xfrm>
          <a:prstGeom prst="ellipse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405079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40233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965BFF"/>
                </a:solidFill>
              </a:defRPr>
            </a:pPr>
            <a:r>
              <a:t>Matplotlib + Plotly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0120" y="4498848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Business visualizations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80560" y="3840480"/>
            <a:ext cx="3246120" cy="15087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43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480560" y="3840480"/>
            <a:ext cx="50292" cy="15087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709160" y="4041648"/>
            <a:ext cx="384048" cy="384048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09160" y="405079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80" y="40233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3E1FF"/>
                </a:solidFill>
              </a:defRPr>
            </a:pPr>
            <a:r>
              <a:t>ReportLab + pypdf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54880" y="4498848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Executive reporting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275320" y="3840480"/>
            <a:ext cx="3246120" cy="15087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96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275320" y="3840480"/>
            <a:ext cx="50292" cy="1508760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503920" y="4041648"/>
            <a:ext cx="384048" cy="384048"/>
          </a:xfrm>
          <a:prstGeom prst="ellipse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3920" y="405079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06840" y="4023360"/>
            <a:ext cx="228599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965BFF"/>
                </a:solidFill>
              </a:defRPr>
            </a:pPr>
            <a:r>
              <a:t>OpenPyXL + xlrd + Pillow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9640" y="4498848"/>
            <a:ext cx="2743200" cy="685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  <a:r>
              <a:t>File and image support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555480" y="6236208"/>
            <a:ext cx="1508760" cy="347472"/>
          </a:xfrm>
          <a:prstGeom prst="roundRect">
            <a:avLst/>
          </a:prstGeom>
          <a:solidFill>
            <a:srgbClr val="1C1737"/>
          </a:solidFill>
          <a:ln>
            <a:solidFill>
              <a:srgbClr val="96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43E1FF"/>
                </a:solidFill>
              </a:defRPr>
            </a:pPr>
            <a:r>
              <a:t>SPEAKER  •  GNARAJ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966960" y="411480"/>
            <a:ext cx="1463040" cy="228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287000" y="749808"/>
            <a:ext cx="1005840" cy="16459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02920" y="5989320"/>
            <a:ext cx="1143000" cy="20116"/>
          </a:xfrm>
          <a:prstGeom prst="rect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40080" y="6144768"/>
            <a:ext cx="10698480" cy="7315"/>
          </a:xfrm>
          <a:prstGeom prst="rect">
            <a:avLst/>
          </a:prstGeom>
          <a:solidFill>
            <a:srgbClr val="413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8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69680" y="-640080"/>
            <a:ext cx="4023360" cy="3474720"/>
          </a:xfrm>
          <a:prstGeom prst="ellipse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029200"/>
            <a:ext cx="4114800" cy="2743200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5212080"/>
            <a:ext cx="3200400" cy="2103120"/>
          </a:xfrm>
          <a:prstGeom prst="ellipse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B0B5CF"/>
                </a:solidFill>
              </a:defRPr>
            </a:pPr>
            <a: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201168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5F7FF"/>
                </a:solidFill>
              </a:defRPr>
            </a:pPr>
            <a:r>
              <a:t>BUVIJAG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713232"/>
            <a:ext cx="81381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7FF"/>
                </a:solidFill>
              </a:defRPr>
            </a:pPr>
            <a:r>
              <a:t>Hackathon 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1353312"/>
            <a:ext cx="8138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0B5CF"/>
                </a:solidFill>
              </a:defRPr>
            </a:pPr>
            <a:r>
              <a:t>A complete business-analysis journey in one demonstration.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1783080"/>
            <a:ext cx="3246120" cy="10515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FFC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" y="1783080"/>
            <a:ext cx="50292" cy="1051560"/>
          </a:xfrm>
          <a:prstGeom prst="rect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14400" y="1984248"/>
            <a:ext cx="384048" cy="384048"/>
          </a:xfrm>
          <a:prstGeom prst="ellipse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199339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19659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C45C"/>
                </a:solidFill>
              </a:defRPr>
            </a:pPr>
            <a:r>
              <a:t>Upload synthetic CSV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2441448"/>
            <a:ext cx="2743200" cy="228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</a:p>
        </p:txBody>
      </p:sp>
      <p:sp>
        <p:nvSpPr>
          <p:cNvPr id="38" name="Rounded Rectangle 37"/>
          <p:cNvSpPr/>
          <p:nvPr/>
        </p:nvSpPr>
        <p:spPr>
          <a:xfrm>
            <a:off x="4480560" y="1783080"/>
            <a:ext cx="3246120" cy="10515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43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480560" y="1783080"/>
            <a:ext cx="50292" cy="10515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60" y="1984248"/>
            <a:ext cx="384048" cy="384048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9160" y="199339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19659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3E1FF"/>
                </a:solidFill>
              </a:defRPr>
            </a:pPr>
            <a:r>
              <a:t>Show Data Health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2441448"/>
            <a:ext cx="2743200" cy="228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</a:p>
        </p:txBody>
      </p:sp>
      <p:sp>
        <p:nvSpPr>
          <p:cNvPr id="44" name="Rounded Rectangle 43"/>
          <p:cNvSpPr/>
          <p:nvPr/>
        </p:nvSpPr>
        <p:spPr>
          <a:xfrm>
            <a:off x="8275320" y="1783080"/>
            <a:ext cx="3246120" cy="10515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FFC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75320" y="1783080"/>
            <a:ext cx="50292" cy="1051560"/>
          </a:xfrm>
          <a:prstGeom prst="rect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503920" y="1984248"/>
            <a:ext cx="384048" cy="384048"/>
          </a:xfrm>
          <a:prstGeom prst="ellipse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3920" y="199339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6840" y="1965960"/>
            <a:ext cx="228599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C45C"/>
                </a:solidFill>
              </a:defRPr>
            </a:pPr>
            <a:r>
              <a:t>KPIs + trends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9640" y="2441448"/>
            <a:ext cx="2743200" cy="228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</a:p>
        </p:txBody>
      </p:sp>
      <p:sp>
        <p:nvSpPr>
          <p:cNvPr id="50" name="Rounded Rectangle 49"/>
          <p:cNvSpPr/>
          <p:nvPr/>
        </p:nvSpPr>
        <p:spPr>
          <a:xfrm>
            <a:off x="685800" y="3200400"/>
            <a:ext cx="3246120" cy="10515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43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85800" y="3200400"/>
            <a:ext cx="50292" cy="10515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14400" y="3401568"/>
            <a:ext cx="384048" cy="384048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341071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33832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3E1FF"/>
                </a:solidFill>
              </a:defRPr>
            </a:pPr>
            <a:r>
              <a:t>AI insights + anomalies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0120" y="3858768"/>
            <a:ext cx="2743200" cy="228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</a:p>
        </p:txBody>
      </p:sp>
      <p:sp>
        <p:nvSpPr>
          <p:cNvPr id="56" name="Rounded Rectangle 55"/>
          <p:cNvSpPr/>
          <p:nvPr/>
        </p:nvSpPr>
        <p:spPr>
          <a:xfrm>
            <a:off x="4480560" y="3200400"/>
            <a:ext cx="3246120" cy="10515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FFC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480560" y="3200400"/>
            <a:ext cx="50292" cy="1051560"/>
          </a:xfrm>
          <a:prstGeom prst="rect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709160" y="3401568"/>
            <a:ext cx="384048" cy="384048"/>
          </a:xfrm>
          <a:prstGeom prst="ellipse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09160" y="341071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80" y="33832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C45C"/>
                </a:solidFill>
              </a:defRPr>
            </a:pPr>
            <a:r>
              <a:t>Inventory intelligence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54880" y="3858768"/>
            <a:ext cx="2743200" cy="228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</a:p>
        </p:txBody>
      </p:sp>
      <p:sp>
        <p:nvSpPr>
          <p:cNvPr id="62" name="Rounded Rectangle 61"/>
          <p:cNvSpPr/>
          <p:nvPr/>
        </p:nvSpPr>
        <p:spPr>
          <a:xfrm>
            <a:off x="8275320" y="3200400"/>
            <a:ext cx="3246120" cy="10515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43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275320" y="3200400"/>
            <a:ext cx="50292" cy="10515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503920" y="3401568"/>
            <a:ext cx="384048" cy="384048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3920" y="341071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06840" y="3383280"/>
            <a:ext cx="228599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3E1FF"/>
                </a:solidFill>
              </a:defRPr>
            </a:pPr>
            <a:r>
              <a:t>What-If simulation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9640" y="3858768"/>
            <a:ext cx="2743200" cy="228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</a:p>
        </p:txBody>
      </p:sp>
      <p:sp>
        <p:nvSpPr>
          <p:cNvPr id="68" name="Rounded Rectangle 67"/>
          <p:cNvSpPr/>
          <p:nvPr/>
        </p:nvSpPr>
        <p:spPr>
          <a:xfrm>
            <a:off x="685800" y="4617720"/>
            <a:ext cx="3246120" cy="10515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FFC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85800" y="4617720"/>
            <a:ext cx="50292" cy="1051560"/>
          </a:xfrm>
          <a:prstGeom prst="rect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14400" y="4818888"/>
            <a:ext cx="384048" cy="384048"/>
          </a:xfrm>
          <a:prstGeom prst="ellipse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482803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417320" y="48006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C45C"/>
                </a:solidFill>
              </a:defRPr>
            </a:pPr>
            <a:r>
              <a:t>Action plan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0120" y="5276088"/>
            <a:ext cx="2743200" cy="228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</a:p>
        </p:txBody>
      </p:sp>
      <p:sp>
        <p:nvSpPr>
          <p:cNvPr id="74" name="Rounded Rectangle 73"/>
          <p:cNvSpPr/>
          <p:nvPr/>
        </p:nvSpPr>
        <p:spPr>
          <a:xfrm>
            <a:off x="4480560" y="4617720"/>
            <a:ext cx="3246120" cy="10515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43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80560" y="4617720"/>
            <a:ext cx="50292" cy="10515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4709160" y="4818888"/>
            <a:ext cx="384048" cy="384048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709160" y="482803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8006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3E1FF"/>
                </a:solidFill>
              </a:defRPr>
            </a:pPr>
            <a:r>
              <a:t>Executive PDF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54880" y="5276088"/>
            <a:ext cx="2743200" cy="228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</a:p>
        </p:txBody>
      </p:sp>
      <p:sp>
        <p:nvSpPr>
          <p:cNvPr id="80" name="Rounded Rectangle 79"/>
          <p:cNvSpPr/>
          <p:nvPr/>
        </p:nvSpPr>
        <p:spPr>
          <a:xfrm>
            <a:off x="8275320" y="4617720"/>
            <a:ext cx="3246120" cy="1051560"/>
          </a:xfrm>
          <a:prstGeom prst="roundRect">
            <a:avLst/>
          </a:prstGeom>
          <a:solidFill>
            <a:srgbClr val="14112A"/>
          </a:solidFill>
          <a:ln w="13970">
            <a:solidFill>
              <a:srgbClr val="FFC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75320" y="4617720"/>
            <a:ext cx="50292" cy="1051560"/>
          </a:xfrm>
          <a:prstGeom prst="rect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503920" y="4818888"/>
            <a:ext cx="384048" cy="384048"/>
          </a:xfrm>
          <a:prstGeom prst="ellipse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503920" y="4828032"/>
            <a:ext cx="3840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90818"/>
                </a:solidFill>
              </a:defRPr>
            </a:pPr>
            <a:r>
              <a:t>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006840" y="4800600"/>
            <a:ext cx="228599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FC45C"/>
                </a:solidFill>
              </a:defRPr>
            </a:pPr>
            <a:r>
              <a:t>Reload from Recent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49640" y="5276088"/>
            <a:ext cx="2743200" cy="228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5F7FF"/>
                </a:solidFill>
              </a:defRPr>
            </a:pPr>
          </a:p>
        </p:txBody>
      </p:sp>
      <p:sp>
        <p:nvSpPr>
          <p:cNvPr id="86" name="Rounded Rectangle 85"/>
          <p:cNvSpPr/>
          <p:nvPr/>
        </p:nvSpPr>
        <p:spPr>
          <a:xfrm>
            <a:off x="9555480" y="6236208"/>
            <a:ext cx="1508760" cy="347472"/>
          </a:xfrm>
          <a:prstGeom prst="roundRect">
            <a:avLst/>
          </a:prstGeom>
          <a:solidFill>
            <a:srgbClr val="1C1737"/>
          </a:solidFill>
          <a:ln>
            <a:solidFill>
              <a:srgbClr val="96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43E1FF"/>
                </a:solidFill>
              </a:defRPr>
            </a:pPr>
            <a:r>
              <a:t>SPEAKER  •  GNARAJ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966960" y="411480"/>
            <a:ext cx="1463040" cy="228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287000" y="749808"/>
            <a:ext cx="1005840" cy="16459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502920" y="5989320"/>
            <a:ext cx="1143000" cy="20116"/>
          </a:xfrm>
          <a:prstGeom prst="rect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40080" y="6144768"/>
            <a:ext cx="10698480" cy="7315"/>
          </a:xfrm>
          <a:prstGeom prst="rect">
            <a:avLst/>
          </a:prstGeom>
          <a:solidFill>
            <a:srgbClr val="413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8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69680" y="-640080"/>
            <a:ext cx="4023360" cy="3474720"/>
          </a:xfrm>
          <a:prstGeom prst="ellipse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029200"/>
            <a:ext cx="4114800" cy="2743200"/>
          </a:xfrm>
          <a:prstGeom prst="ellipse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509760" y="5212080"/>
            <a:ext cx="3200400" cy="2103120"/>
          </a:xfrm>
          <a:prstGeom prst="ellipse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384280" y="6446520"/>
            <a:ext cx="411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B0B5CF"/>
                </a:solidFill>
              </a:defRPr>
            </a:pPr>
            <a:r>
              <a:t>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09728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43E1FF"/>
                </a:solidFill>
              </a:defRPr>
            </a:pPr>
            <a:r>
              <a:t>FROM RAW DATA TO DECISION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2240280"/>
            <a:ext cx="2331720" cy="960120"/>
          </a:xfrm>
          <a:prstGeom prst="roundRect">
            <a:avLst/>
          </a:prstGeom>
          <a:solidFill>
            <a:srgbClr val="14112A"/>
          </a:solidFill>
          <a:ln w="22860">
            <a:solidFill>
              <a:srgbClr val="43E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7FF"/>
                </a:solidFill>
              </a:defRPr>
            </a:pPr>
            <a:r>
              <a:t>RAW DATA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3136392" y="2514600"/>
            <a:ext cx="365760" cy="320040"/>
          </a:xfrm>
          <a:prstGeom prst="rightArrow">
            <a:avLst/>
          </a:prstGeom>
          <a:solidFill>
            <a:srgbClr val="B0B5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566160" y="2240280"/>
            <a:ext cx="2331720" cy="960120"/>
          </a:xfrm>
          <a:prstGeom prst="roundRect">
            <a:avLst/>
          </a:prstGeom>
          <a:solidFill>
            <a:srgbClr val="14112A"/>
          </a:solidFill>
          <a:ln w="22860">
            <a:solidFill>
              <a:srgbClr val="96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7FF"/>
                </a:solidFill>
              </a:defRPr>
            </a:pPr>
            <a:r>
              <a:t>UNDERSTANDING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925312" y="2514600"/>
            <a:ext cx="365760" cy="320040"/>
          </a:xfrm>
          <a:prstGeom prst="rightArrow">
            <a:avLst/>
          </a:prstGeom>
          <a:solidFill>
            <a:srgbClr val="B0B5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55079" y="2240280"/>
            <a:ext cx="2331720" cy="960120"/>
          </a:xfrm>
          <a:prstGeom prst="roundRect">
            <a:avLst/>
          </a:prstGeom>
          <a:solidFill>
            <a:srgbClr val="14112A"/>
          </a:solidFill>
          <a:ln w="22860">
            <a:solidFill>
              <a:srgbClr val="FFC4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7FF"/>
                </a:solidFill>
              </a:defRPr>
            </a:pPr>
            <a:r>
              <a:t>INSIGHT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8714232" y="2514600"/>
            <a:ext cx="365760" cy="320040"/>
          </a:xfrm>
          <a:prstGeom prst="rightArrow">
            <a:avLst/>
          </a:prstGeom>
          <a:solidFill>
            <a:srgbClr val="B0B5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43999" y="2240280"/>
            <a:ext cx="2331720" cy="960120"/>
          </a:xfrm>
          <a:prstGeom prst="roundRect">
            <a:avLst/>
          </a:prstGeom>
          <a:solidFill>
            <a:srgbClr val="14112A"/>
          </a:solidFill>
          <a:ln w="22860">
            <a:solidFill>
              <a:srgbClr val="5BE1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7FF"/>
                </a:solidFill>
              </a:defRPr>
            </a:pPr>
            <a:r>
              <a:t>ACTION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794760"/>
            <a:ext cx="99669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5F7FF"/>
                </a:solidFill>
              </a:defRPr>
            </a:pPr>
            <a:r>
              <a:t>BUVIJAG 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4572000"/>
            <a:ext cx="94183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C45C"/>
                </a:solidFill>
              </a:defRPr>
            </a:pPr>
            <a:r>
              <a:t>Sharp Intelligence for a Data-Driven World.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55480" y="6236208"/>
            <a:ext cx="1508760" cy="347472"/>
          </a:xfrm>
          <a:prstGeom prst="roundRect">
            <a:avLst/>
          </a:prstGeom>
          <a:solidFill>
            <a:srgbClr val="1C1737"/>
          </a:solidFill>
          <a:ln>
            <a:solidFill>
              <a:srgbClr val="96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43E1FF"/>
                </a:solidFill>
              </a:defRPr>
            </a:pPr>
            <a:r>
              <a:t>SPEAKER  •  GNARAJ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66960" y="411480"/>
            <a:ext cx="1463040" cy="22860"/>
          </a:xfrm>
          <a:prstGeom prst="rect">
            <a:avLst/>
          </a:prstGeom>
          <a:solidFill>
            <a:srgbClr val="43E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287000" y="749808"/>
            <a:ext cx="1005840" cy="16459"/>
          </a:xfrm>
          <a:prstGeom prst="rect">
            <a:avLst/>
          </a:prstGeom>
          <a:solidFill>
            <a:srgbClr val="96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5989320"/>
            <a:ext cx="1143000" cy="20116"/>
          </a:xfrm>
          <a:prstGeom prst="rect">
            <a:avLst/>
          </a:prstGeom>
          <a:solidFill>
            <a:srgbClr val="FFC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" y="6144768"/>
            <a:ext cx="10698480" cy="7315"/>
          </a:xfrm>
          <a:prstGeom prst="rect">
            <a:avLst/>
          </a:prstGeom>
          <a:solidFill>
            <a:srgbClr val="413C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